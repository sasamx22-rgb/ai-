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매출</c:v>
                </c:pt>
              </c:strCache>
            </c:strRef>
          </c:tx>
          <c:spPr>
            <a:solidFill>
              <a:srgbClr val="C0504D"/>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12400</c:v>
                </c:pt>
                <c:pt idx="1">
                  <c:v>13150</c:v>
                </c:pt>
                <c:pt idx="2">
                  <c:v>12980</c:v>
                </c:pt>
                <c:pt idx="3">
                  <c:v>14220</c:v>
                </c:pt>
              </c:numCache>
            </c:numRef>
          </c:val>
        </c:ser>
        <c:ser>
          <c:idx val="1"/>
          <c:order val="1"/>
          <c:tx>
            <c:strRef>
              <c:f>Sheet1!$C$1</c:f>
              <c:strCache>
                <c:ptCount val="1"/>
                <c:pt idx="0">
                  <c:v>영업이익</c:v>
                </c:pt>
              </c:strCache>
            </c:strRef>
          </c:tx>
          <c:spPr>
            <a:solidFill>
              <a:srgbClr val="4F81BD"/>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Sheet1!$C$2:$C$5</c:f>
              <c:numCache>
                <c:formatCode>General</c:formatCode>
                <c:ptCount val="4"/>
                <c:pt idx="0">
                  <c:v>1240</c:v>
                </c:pt>
                <c:pt idx="1">
                  <c:v>1380</c:v>
                </c:pt>
                <c:pt idx="2">
                  <c:v>1195</c:v>
                </c:pt>
                <c:pt idx="3">
                  <c:v>1610</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1645920"/>
            <a:ext cx="8229600" cy="914400"/>
          </a:xfrm>
          <a:prstGeom prst="rect">
            <a:avLst/>
          </a:prstGeom>
          <a:noFill/>
          <a:ln/>
        </p:spPr>
        <p:txBody>
          <a:bodyPr wrap="square" rtlCol="0" anchor="ctr"/>
          <a:lstStyle/>
          <a:p>
            <a:pPr indent="0" marL="0">
              <a:buNone/>
            </a:pPr>
            <a:r>
              <a:rPr lang="en-US" sz="3600" b="1" dirty="0">
                <a:solidFill>
                  <a:srgbClr val="1F3864"/>
                </a:solidFill>
              </a:rPr>
              <a:t>샘플전자 FY2025 실적 보고</a:t>
            </a:r>
            <a:endParaRPr lang="en-US" sz="3600" dirty="0"/>
          </a:p>
        </p:txBody>
      </p:sp>
      <p:sp>
        <p:nvSpPr>
          <p:cNvPr id="3" name="Text 1"/>
          <p:cNvSpPr/>
          <p:nvPr/>
        </p:nvSpPr>
        <p:spPr>
          <a:xfrm>
            <a:off x="457200" y="2743200"/>
            <a:ext cx="8229600" cy="457200"/>
          </a:xfrm>
          <a:prstGeom prst="rect">
            <a:avLst/>
          </a:prstGeom>
          <a:noFill/>
          <a:ln/>
        </p:spPr>
        <p:txBody>
          <a:bodyPr wrap="square" rtlCol="0" anchor="ctr"/>
          <a:lstStyle/>
          <a:p>
            <a:pPr indent="0" marL="0">
              <a:buNone/>
            </a:pPr>
            <a:r>
              <a:rPr lang="en-US" sz="1800" dirty="0">
                <a:solidFill>
                  <a:srgbClr val="595959"/>
                </a:solidFill>
              </a:rPr>
              <a:t>가상 회사 샘플 자료 (단위: 백만원)</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lstStyle/>
          <a:p>
            <a:pPr indent="0" marL="0">
              <a:buNone/>
            </a:pPr>
            <a:r>
              <a:rPr lang="en-US" sz="2800" b="1" dirty="0">
                <a:solidFill>
                  <a:srgbClr val="1F3864"/>
                </a:solidFill>
              </a:rPr>
              <a:t>요약</a:t>
            </a:r>
            <a:endParaRPr lang="en-US" sz="2800" dirty="0"/>
          </a:p>
        </p:txBody>
      </p:sp>
      <p:sp>
        <p:nvSpPr>
          <p:cNvPr id="3" name="Text 1"/>
          <p:cNvSpPr/>
          <p:nvPr/>
        </p:nvSpPr>
        <p:spPr>
          <a:xfrm>
            <a:off x="548640" y="1280160"/>
            <a:ext cx="8046720" cy="2286000"/>
          </a:xfrm>
          <a:prstGeom prst="rect">
            <a:avLst/>
          </a:prstGeom>
          <a:noFill/>
          <a:ln/>
        </p:spPr>
        <p:txBody>
          <a:bodyPr wrap="square" rtlCol="0" anchor="ctr"/>
          <a:lstStyle/>
          <a:p>
            <a:pPr marL="342900" indent="-342900">
              <a:buSzPct val="100000"/>
              <a:buChar char="•"/>
            </a:pPr>
            <a:r>
              <a:rPr lang="en-US" sz="2000" dirty="0">
                <a:solidFill>
                  <a:srgbClr val="262626"/>
                </a:solidFill>
              </a:rPr>
              <a:t>FY2025 매출 합계 52,750백만원 (전년 대비 +7.9%)</a:t>
            </a:r>
            <a:endParaRPr lang="en-US" sz="2000" dirty="0"/>
          </a:p>
          <a:p>
            <a:pPr marL="342900" indent="-342900">
              <a:buSzPct val="100000"/>
              <a:buChar char="•"/>
            </a:pPr>
            <a:r>
              <a:rPr lang="en-US" sz="2000" dirty="0">
                <a:solidFill>
                  <a:srgbClr val="262626"/>
                </a:solidFill>
              </a:rPr>
              <a:t>영업이익 합계 5,245백만원 (전년 대비 +10.9%)</a:t>
            </a:r>
            <a:endParaRPr lang="en-US" sz="2000" dirty="0"/>
          </a:p>
          <a:p>
            <a:pPr marL="342900" indent="-342900">
              <a:buSzPct val="100000"/>
              <a:buChar char="•"/>
            </a:pPr>
            <a:r>
              <a:rPr lang="en-US" sz="2000" dirty="0">
                <a:solidFill>
                  <a:srgbClr val="262626"/>
                </a:solidFill>
              </a:rPr>
              <a:t>영업이익률 10.3%</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lstStyle/>
          <a:p>
            <a:pPr indent="0" marL="0">
              <a:buNone/>
            </a:pPr>
            <a:r>
              <a:rPr lang="en-US" sz="2800" b="1" dirty="0">
                <a:solidFill>
                  <a:srgbClr val="1F3864"/>
                </a:solidFill>
              </a:rPr>
              <a:t>분기별 실적 (단위: 백만원)</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914400" y="1188720"/>
          <a:ext cx="7315200" cy="914400"/>
        </p:xfrm>
        <a:graphic>
          <a:graphicData uri="http://schemas.openxmlformats.org/drawingml/2006/table">
            <a:tbl>
              <a:tblPr/>
              <a:tblGrid>
                <a:gridCol w="1828800"/>
                <a:gridCol w="2743200"/>
                <a:gridCol w="2743200"/>
              </a:tblGrid>
              <a:tr h="0">
                <a:tc>
                  <a:txBody>
                    <a:bodyPr/>
                    <a:lstStyle/>
                    <a:p>
                      <a:pPr algn="ctr" indent="0" marL="0">
                        <a:buNone/>
                      </a:pPr>
                      <a:r>
                        <a:rPr lang="en-US" sz="1600" b="1" dirty="0">
                          <a:solidFill>
                            <a:srgbClr val="000000"/>
                          </a:solidFill>
                        </a:rPr>
                        <a:t>분기</a:t>
                      </a:r>
                      <a:endParaRPr lang="en-US" sz="1600" dirty="0"/>
                    </a:p>
                  </a:txBody>
                  <a:tcPr marL="91440" marR="91440" marT="45720" marB="45720">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E2F3"/>
                    </a:solidFill>
                  </a:tcPr>
                </a:tc>
                <a:tc>
                  <a:txBody>
                    <a:bodyPr/>
                    <a:lstStyle/>
                    <a:p>
                      <a:pPr algn="ctr" indent="0" marL="0">
                        <a:buNone/>
                      </a:pPr>
                      <a:r>
                        <a:rPr lang="en-US" sz="1600" b="1" dirty="0">
                          <a:solidFill>
                            <a:srgbClr val="000000"/>
                          </a:solidFill>
                        </a:rPr>
                        <a:t>매출</a:t>
                      </a:r>
                      <a:endParaRPr lang="en-US" sz="1600" dirty="0"/>
                    </a:p>
                  </a:txBody>
                  <a:tcPr marL="91440" marR="91440" marT="45720" marB="45720">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E2F3"/>
                    </a:solidFill>
                  </a:tcPr>
                </a:tc>
                <a:tc>
                  <a:txBody>
                    <a:bodyPr/>
                    <a:lstStyle/>
                    <a:p>
                      <a:pPr algn="ctr" indent="0" marL="0">
                        <a:buNone/>
                      </a:pPr>
                      <a:r>
                        <a:rPr lang="en-US" sz="1600" b="1" dirty="0">
                          <a:solidFill>
                            <a:srgbClr val="000000"/>
                          </a:solidFill>
                        </a:rPr>
                        <a:t>영업이익</a:t>
                      </a:r>
                      <a:endParaRPr lang="en-US" sz="1600" dirty="0"/>
                    </a:p>
                  </a:txBody>
                  <a:tcPr marL="91440" marR="91440" marT="45720" marB="45720">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D9E2F3"/>
                    </a:solidFill>
                  </a:tcPr>
                </a:tc>
              </a:tr>
              <a:tr h="0">
                <a:tc>
                  <a:txBody>
                    <a:bodyPr/>
                    <a:lstStyle/>
                    <a:p>
                      <a:pPr algn="ctr" indent="0" marL="0">
                        <a:buNone/>
                      </a:pPr>
                      <a:r>
                        <a:rPr lang="en-US" sz="1600" dirty="0">
                          <a:solidFill>
                            <a:srgbClr val="000000"/>
                          </a:solidFill>
                        </a:rPr>
                        <a:t>Q1</a:t>
                      </a:r>
                      <a:endParaRPr lang="en-US" sz="1600" dirty="0"/>
                    </a:p>
                  </a:txBody>
                  <a:tcPr marL="91440" marR="91440" marT="45720" marB="45720">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indent="0" marL="0">
                        <a:buNone/>
                      </a:pPr>
                      <a:r>
                        <a:rPr lang="en-US" sz="1600" dirty="0">
                          <a:solidFill>
                            <a:srgbClr val="000000"/>
                          </a:solidFill>
                        </a:rPr>
                        <a:t>12,400</a:t>
                      </a:r>
                      <a:endParaRPr lang="en-US" sz="1600" dirty="0"/>
                    </a:p>
                  </a:txBody>
                  <a:tcPr marL="91440" marR="91440" marT="45720" marB="45720">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indent="0" marL="0">
                        <a:buNone/>
                      </a:pPr>
                      <a:r>
                        <a:rPr lang="en-US" sz="1600" dirty="0">
                          <a:solidFill>
                            <a:srgbClr val="000000"/>
                          </a:solidFill>
                        </a:rPr>
                        <a:t>1,240</a:t>
                      </a:r>
                      <a:endParaRPr lang="en-US" sz="1600" dirty="0"/>
                    </a:p>
                  </a:txBody>
                  <a:tcPr marL="91440" marR="91440" marT="45720" marB="45720">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r>
              <a:tr h="0">
                <a:tc>
                  <a:txBody>
                    <a:bodyPr/>
                    <a:lstStyle/>
                    <a:p>
                      <a:pPr algn="ctr" indent="0" marL="0">
                        <a:buNone/>
                      </a:pPr>
                      <a:r>
                        <a:rPr lang="en-US" sz="1600" dirty="0">
                          <a:solidFill>
                            <a:srgbClr val="000000"/>
                          </a:solidFill>
                        </a:rPr>
                        <a:t>Q2</a:t>
                      </a:r>
                      <a:endParaRPr lang="en-US" sz="1600" dirty="0"/>
                    </a:p>
                  </a:txBody>
                  <a:tcPr marL="91440" marR="91440" marT="45720" marB="45720">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indent="0" marL="0">
                        <a:buNone/>
                      </a:pPr>
                      <a:r>
                        <a:rPr lang="en-US" sz="1600" dirty="0">
                          <a:solidFill>
                            <a:srgbClr val="000000"/>
                          </a:solidFill>
                        </a:rPr>
                        <a:t>13,150</a:t>
                      </a:r>
                      <a:endParaRPr lang="en-US" sz="1600" dirty="0"/>
                    </a:p>
                  </a:txBody>
                  <a:tcPr marL="91440" marR="91440" marT="45720" marB="45720">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indent="0" marL="0">
                        <a:buNone/>
                      </a:pPr>
                      <a:r>
                        <a:rPr lang="en-US" sz="1600" dirty="0">
                          <a:solidFill>
                            <a:srgbClr val="000000"/>
                          </a:solidFill>
                        </a:rPr>
                        <a:t>1,380</a:t>
                      </a:r>
                      <a:endParaRPr lang="en-US" sz="1600" dirty="0"/>
                    </a:p>
                  </a:txBody>
                  <a:tcPr marL="91440" marR="91440" marT="45720" marB="45720">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r>
              <a:tr h="0">
                <a:tc>
                  <a:txBody>
                    <a:bodyPr/>
                    <a:lstStyle/>
                    <a:p>
                      <a:pPr algn="ctr" indent="0" marL="0">
                        <a:buNone/>
                      </a:pPr>
                      <a:r>
                        <a:rPr lang="en-US" sz="1600" dirty="0">
                          <a:solidFill>
                            <a:srgbClr val="000000"/>
                          </a:solidFill>
                        </a:rPr>
                        <a:t>Q3</a:t>
                      </a:r>
                      <a:endParaRPr lang="en-US" sz="1600" dirty="0"/>
                    </a:p>
                  </a:txBody>
                  <a:tcPr marL="91440" marR="91440" marT="45720" marB="45720">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indent="0" marL="0">
                        <a:buNone/>
                      </a:pPr>
                      <a:r>
                        <a:rPr lang="en-US" sz="1600" dirty="0">
                          <a:solidFill>
                            <a:srgbClr val="000000"/>
                          </a:solidFill>
                        </a:rPr>
                        <a:t>12,890</a:t>
                      </a:r>
                      <a:endParaRPr lang="en-US" sz="1600" dirty="0"/>
                    </a:p>
                  </a:txBody>
                  <a:tcPr marL="91440" marR="91440" marT="45720" marB="45720">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indent="0" marL="0">
                        <a:buNone/>
                      </a:pPr>
                      <a:r>
                        <a:rPr lang="en-US" sz="1600" dirty="0">
                          <a:solidFill>
                            <a:srgbClr val="000000"/>
                          </a:solidFill>
                        </a:rPr>
                        <a:t>1,195</a:t>
                      </a:r>
                      <a:endParaRPr lang="en-US" sz="1600" dirty="0"/>
                    </a:p>
                  </a:txBody>
                  <a:tcPr marL="91440" marR="91440" marT="45720" marB="45720">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r>
              <a:tr h="0">
                <a:tc>
                  <a:txBody>
                    <a:bodyPr/>
                    <a:lstStyle/>
                    <a:p>
                      <a:pPr algn="ctr" indent="0" marL="0">
                        <a:buNone/>
                      </a:pPr>
                      <a:r>
                        <a:rPr lang="en-US" sz="1600" dirty="0">
                          <a:solidFill>
                            <a:srgbClr val="000000"/>
                          </a:solidFill>
                        </a:rPr>
                        <a:t>Q4</a:t>
                      </a:r>
                      <a:endParaRPr lang="en-US" sz="1600" dirty="0"/>
                    </a:p>
                  </a:txBody>
                  <a:tcPr marL="91440" marR="91440" marT="45720" marB="45720">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indent="0" marL="0">
                        <a:buNone/>
                      </a:pPr>
                      <a:r>
                        <a:rPr lang="en-US" sz="1600" dirty="0">
                          <a:solidFill>
                            <a:srgbClr val="000000"/>
                          </a:solidFill>
                        </a:rPr>
                        <a:t>14,220</a:t>
                      </a:r>
                      <a:endParaRPr lang="en-US" sz="1600" dirty="0"/>
                    </a:p>
                  </a:txBody>
                  <a:tcPr marL="91440" marR="91440" marT="45720" marB="45720">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indent="0" marL="0">
                        <a:buNone/>
                      </a:pPr>
                      <a:r>
                        <a:rPr lang="en-US" sz="1600" dirty="0">
                          <a:solidFill>
                            <a:srgbClr val="000000"/>
                          </a:solidFill>
                        </a:rPr>
                        <a:t>1,610</a:t>
                      </a:r>
                      <a:endParaRPr lang="en-US" sz="1600" dirty="0"/>
                    </a:p>
                  </a:txBody>
                  <a:tcPr marL="91440" marR="91440" marT="45720" marB="45720">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r>
              <a:tr h="0">
                <a:tc>
                  <a:txBody>
                    <a:bodyPr/>
                    <a:lstStyle/>
                    <a:p>
                      <a:pPr algn="ctr" indent="0" marL="0">
                        <a:buNone/>
                      </a:pPr>
                      <a:r>
                        <a:rPr lang="en-US" sz="1600" b="1" dirty="0">
                          <a:solidFill>
                            <a:srgbClr val="000000"/>
                          </a:solidFill>
                        </a:rPr>
                        <a:t>합계</a:t>
                      </a:r>
                      <a:endParaRPr lang="en-US" sz="1600" dirty="0"/>
                    </a:p>
                  </a:txBody>
                  <a:tcPr marL="91440" marR="91440" marT="45720" marB="45720">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indent="0" marL="0">
                        <a:buNone/>
                      </a:pPr>
                      <a:r>
                        <a:rPr lang="en-US" sz="1600" b="1" dirty="0">
                          <a:solidFill>
                            <a:srgbClr val="000000"/>
                          </a:solidFill>
                        </a:rPr>
                        <a:t>52,750</a:t>
                      </a:r>
                      <a:endParaRPr lang="en-US" sz="1600" dirty="0"/>
                    </a:p>
                  </a:txBody>
                  <a:tcPr marL="91440" marR="91440" marT="45720" marB="45720">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c>
                  <a:txBody>
                    <a:bodyPr/>
                    <a:lstStyle/>
                    <a:p>
                      <a:pPr algn="r" indent="0" marL="0">
                        <a:buNone/>
                      </a:pPr>
                      <a:r>
                        <a:rPr lang="en-US" sz="1600" b="1" dirty="0">
                          <a:solidFill>
                            <a:srgbClr val="000000"/>
                          </a:solidFill>
                        </a:rPr>
                        <a:t>5,425</a:t>
                      </a:r>
                      <a:endParaRPr lang="en-US" sz="1600" dirty="0"/>
                    </a:p>
                  </a:txBody>
                  <a:tcPr marL="91440" marR="91440" marT="45720" marB="45720">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lstStyle/>
          <a:p>
            <a:pPr indent="0" marL="0">
              <a:buNone/>
            </a:pPr>
            <a:r>
              <a:rPr lang="en-US" sz="2800" b="1" dirty="0">
                <a:solidFill>
                  <a:srgbClr val="1F3864"/>
                </a:solidFill>
              </a:rPr>
              <a:t>분기별 매출·영업이익 추이</a:t>
            </a:r>
            <a:endParaRPr lang="en-US" sz="2800" dirty="0"/>
          </a:p>
        </p:txBody>
      </p:sp>
      <p:graphicFrame>
        <p:nvGraphicFramePr>
          <p:cNvPr id="3" name="Chart 0" descr=""/>
          <p:cNvGraphicFramePr/>
          <p:nvPr/>
        </p:nvGraphicFramePr>
        <p:xfrm>
          <a:off x="457200" y="1097280"/>
          <a:ext cx="8229600" cy="36576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lstStyle/>
          <a:p>
            <a:pPr indent="0" marL="0">
              <a:buNone/>
            </a:pPr>
            <a:r>
              <a:rPr lang="en-US" sz="2800" b="1" dirty="0">
                <a:solidFill>
                  <a:srgbClr val="1F3864"/>
                </a:solidFill>
              </a:rPr>
              <a:t>시사점</a:t>
            </a:r>
            <a:endParaRPr lang="en-US" sz="2800" dirty="0"/>
          </a:p>
        </p:txBody>
      </p:sp>
      <p:sp>
        <p:nvSpPr>
          <p:cNvPr id="3" name="Text 1"/>
          <p:cNvSpPr/>
          <p:nvPr/>
        </p:nvSpPr>
        <p:spPr>
          <a:xfrm>
            <a:off x="548640" y="4023360"/>
            <a:ext cx="8046720" cy="731520"/>
          </a:xfrm>
          <a:prstGeom prst="rect">
            <a:avLst/>
          </a:prstGeom>
          <a:noFill/>
          <a:ln/>
        </p:spPr>
        <p:txBody>
          <a:bodyPr wrap="square" rtlCol="0" anchor="ctr"/>
          <a:lstStyle/>
          <a:p>
            <a:pPr indent="0" marL="0">
              <a:buNone/>
            </a:pPr>
            <a:r>
              <a:rPr lang="en-US" sz="2600" dirty="0">
                <a:solidFill>
                  <a:srgbClr val="262626"/>
                </a:solidFill>
              </a:rPr>
              <a:t>4분기 매출·영업이익이 연중 최고치를 기록했다. 3분기에는 매출은 유지했으나 영업이익이 일시적으로 감소했다. 원가 구조 개선과 판매 채널 다변화가 연간 수익성 개선의 핵심 요인으로 보이며 향후에도 이러한 추세가 이어질 것으로 기대된다. 다만 환율과 원자재 가격 변동성에 대한 관리가 필요하다.</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2026-09-29T08:22:04Z</dcterms:created>
  <dcterms:modified xsi:type="dcterms:W3CDTF">2026-09-29T08:22:04Z</dcterms:modified>
</cp:coreProperties>
</file>